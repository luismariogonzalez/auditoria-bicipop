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224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5120640" cy="5120640"/>
          </a:xfrm>
          <a:prstGeom prst="ellipse">
            <a:avLst/>
          </a:prstGeom>
          <a:solidFill>
            <a:srgbClr val="203A7A">
              <a:alpha val="45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9875520" y="3566160"/>
            <a:ext cx="3840480" cy="3840480"/>
          </a:xfrm>
          <a:prstGeom prst="ellipse">
            <a:avLst/>
          </a:prstGeom>
          <a:solidFill>
            <a:srgbClr val="17A2B8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KEEPCODING XIX BOOTCAMP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Seguridad Web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BiciPop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 asistido por IA con CAI — Cybersecurity AI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480560"/>
            <a:ext cx="173736" cy="173736"/>
          </a:xfrm>
          <a:prstGeom prst="ellipse">
            <a:avLst/>
          </a:prstGeom>
          <a:solidFill>
            <a:srgbClr val="DC35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859536" y="4480560"/>
            <a:ext cx="173736" cy="173736"/>
          </a:xfrm>
          <a:prstGeom prst="ellipse">
            <a:avLst/>
          </a:prstGeom>
          <a:solidFill>
            <a:srgbClr val="FD7E1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1170432" y="4480560"/>
            <a:ext cx="173736" cy="173736"/>
          </a:xfrm>
          <a:prstGeom prst="ellipse">
            <a:avLst/>
          </a:prstGeom>
          <a:solidFill>
            <a:srgbClr val="E0A1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1481328" y="4480560"/>
            <a:ext cx="173736" cy="173736"/>
          </a:xfrm>
          <a:prstGeom prst="ellipse">
            <a:avLst/>
          </a:prstGeom>
          <a:solidFill>
            <a:srgbClr val="0DA9C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Mario González Urbano  ·  Gustavo Álvarez Sánchez</a:t>
            </a:r>
            <a:r>
              <a:rPr lang="en-US" sz="1400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bicipop.duckdns.org   ·   Julio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DEL EQUIPO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Quiénes somos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737360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Mario González Urbano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3803" y="2487168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48640" y="2487168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17520" y="2487168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Gustavo Álvarez Sánchez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48640" y="323697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3236976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KeepCoding</a:t>
            </a: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Bootcamp de Ciberseguridad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17520" y="3986784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seguridad web de BiciPop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736592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548640" y="47365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4736592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 asistido por IA con CAI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INICIAL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nuestra propuesta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6126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B3C"/>
                </a:solidFill>
              </a:rPr>
              <a:t>¿Qué es BiciPop?
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3262F"/>
                </a:solidFill>
              </a:rPr>
              <a:t>Un marketplace de bicicletas de segunda mano, desarrollado como proyecto web dentro del propio bootcamp KeepCoding XIX.
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B3C"/>
                </a:solidFill>
              </a:rPr>
              <a:t>¿Por qué auditarlo?
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3262F"/>
                </a:solidFill>
              </a:rPr>
              <a:t>Evaluar su postura de seguridad antes de un hipotético despliegue en producción, siguiendo la metodología de un pentest profesional.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040880" y="1691640"/>
            <a:ext cx="4599432" cy="3566160"/>
          </a:xfrm>
          <a:prstGeom prst="roundRect">
            <a:avLst>
              <a:gd name="adj" fmla="val 2051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315200" y="19202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 LA AUDITORÍA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0" y="2331720"/>
            <a:ext cx="402336" cy="402336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0" y="23317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0" y="2313432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vulnerabilidades reales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315200" y="2990088"/>
            <a:ext cx="402336" cy="402336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315200" y="29900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863840" y="2971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Clasificarlas por severidad (CVSS/CWE)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0" y="3648456"/>
            <a:ext cx="402336" cy="402336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7315200" y="36484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863840" y="363016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Proponer remediaciones concretas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15200" y="4526280"/>
            <a:ext cx="4114800" cy="548640"/>
          </a:xfrm>
          <a:prstGeom prst="roundRect">
            <a:avLst>
              <a:gd name="adj" fmla="val 16667"/>
            </a:avLst>
          </a:prstGeom>
          <a:solidFill>
            <a:srgbClr val="E8F6EF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7452360" y="452628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autorizada — objetivo del bootcamp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·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BiciPop: qué es y qué hace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Compraventa de bicis de segunda mano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703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 vendedor y fichas de producto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25196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822960" y="425196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663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entre comprador y vendedor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737360"/>
            <a:ext cx="5376672" cy="4023360"/>
          </a:xfrm>
          <a:prstGeom prst="roundRect">
            <a:avLst>
              <a:gd name="adj" fmla="val 1818"/>
            </a:avLst>
          </a:prstGeom>
          <a:solidFill>
            <a:srgbClr val="F0FAF4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537960" y="19202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DEMO VERÉIS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377440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653796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32320" y="23317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navegación
</a:t>
            </a:r>
            <a:endParaRPr lang="en-US" sz="14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vivo por la web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3291840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65379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32320" y="32461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 producto
</a:t>
            </a:r>
            <a:endParaRPr lang="en-US" sz="14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publicar </a:t>
            </a:r>
            <a:r>
              <a:rPr lang="en-US" sz="12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37960" y="4206240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653796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3232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y login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 </a:t>
            </a:r>
            <a:r>
              <a:rPr lang="en-US" sz="12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5257800"/>
            <a:ext cx="5376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técnica se detalla en la siguiente slide.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LA INFRAESTRUCTURA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objetivo: arquitectura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737360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(App Router + Turbopack)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48640" y="2487168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17520" y="2487168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— PostgreSQL + Storage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48640" y="323697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3236976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(identificadores CUID2)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web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17520" y="3986784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(reverse proxy)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736592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548640" y="47365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4736592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 · 54.227.73.159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40880" y="1737360"/>
            <a:ext cx="4599432" cy="3246120"/>
          </a:xfrm>
          <a:prstGeom prst="roundRect">
            <a:avLst>
              <a:gd name="adj" fmla="val 2254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7315200" y="19659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SUPERFICIE DE ATAQUE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2377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0" y="23317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ICMP bloqueado
</a:t>
            </a:r>
            <a:endParaRPr lang="en-US" sz="135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 activo, sin ping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0" y="32004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89520" y="315468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filtrados
</a:t>
            </a:r>
            <a:endParaRPr lang="en-US" sz="135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HTTP/HTTPS accesible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15200" y="4023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0" y="397764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válido
</a:t>
            </a:r>
            <a:endParaRPr lang="en-US" sz="135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Encrypt, hasta ago-2026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ESTRUCTURADO DE PENTEST WEB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Metodología: 6 fases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777240" y="194767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1947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191109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560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HTTP, fingerprinting de tecnologías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61104" y="169164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489704" y="194767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489704" y="1947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175504" y="191109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Cabeceras de seguridad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17136" y="2560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CSP, HSTS, X-Frame-Options…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73568" y="169164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8202168" y="194767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8202168" y="1947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887968" y="191109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Enumeración de rutas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0" y="2560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archivos sensibles, directorios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777240" y="373075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777240" y="3730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36941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activas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04672" y="4343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XSS, SQLi, IDOR, SSTI, autenticación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61104" y="347472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489704" y="373075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489704" y="3730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175504" y="36941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DNS / Email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17136" y="4343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SPF, DMARC, MX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73568" y="347472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8202168" y="373075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8202168" y="3730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87968" y="36941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229600" y="4343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hallazgos, descartar falsos positivos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Orquestado con </a:t>
            </a:r>
            <a:r>
              <a:rPr lang="en-US" sz="13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 (Cybersecurity AI)</a:t>
            </a: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framework de agentes de IA ofensivos.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 OFENSIVA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Herramienta: CAI + 4 agentes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777240" cy="777240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78308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20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783080" y="2194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Pentester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83080" y="257860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Reconocimiento, enumeración y pruebas iniciales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6446520" y="2057400"/>
            <a:ext cx="777240" cy="777240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40664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9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06640" y="2194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/ SMTP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06640" y="257860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SPF, DMARC y seguridad de email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822960" y="3657600"/>
            <a:ext cx="777240" cy="777240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822960" y="3657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783080" y="35570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83080" y="37947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Bounter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83080" y="417880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dirigidas: XSS, login, IDOR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6446520" y="3657600"/>
            <a:ext cx="777240" cy="777240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6446520" y="3657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406640" y="35570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12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06640" y="37947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Team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06640" y="417880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Detectó la exposición de datos de usuario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548640" y="502920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LLM: </a:t>
            </a:r>
            <a:r>
              <a:rPr lang="en-US" sz="13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4.5 / Sonnet 4.6</a:t>
            </a: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sobre Kali Linux (+ agentes 15 y 14)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— PASO A PASO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que seguimos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777240" y="194767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1947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191109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CAI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560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en .env y modelo Claude (Haiku 4.5 / Sonnet 4.6)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61104" y="169164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489704" y="194767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489704" y="1947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175504" y="191109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</a:t>
            </a: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el Agente 20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17136" y="2560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Pentester: headers, tecnologías y rutas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73568" y="169164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8202168" y="194767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8202168" y="1947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887968" y="191109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dirigidas (Agente 4)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0" y="2560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Bounter: XSS, login e IDOR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777240" y="373075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777240" y="3730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36941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DNS / Email (Agente 9)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04672" y="4343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SPF, DMARC y seguridad de correo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61104" y="347472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489704" y="373075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489704" y="3730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175504" y="36941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Team (Agente 12)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17136" y="4343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exposición de datos de usuario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73568" y="347472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8202168" y="3730752"/>
            <a:ext cx="548640" cy="54864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8202168" y="3730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87968" y="36941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y reporte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229600" y="4343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15 y 14: reverificación e informe (NIS2)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Orquestado con </a:t>
            </a:r>
            <a:r>
              <a:rPr lang="en-US" sz="13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 (Cybersecurity AI)</a:t>
            </a: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 validación manual de cada hallazgo.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CON LA HERRAMIENTA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de CAI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MODELOS GRATUITOS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Repetía pruebas e inventaba IDs, rutas y comandos curl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703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Unicode: falsos positivos constantes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25196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822960" y="425196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663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Llegó a simular resultados que no eran reales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737360"/>
            <a:ext cx="5376672" cy="4023360"/>
          </a:xfrm>
          <a:prstGeom prst="roundRect">
            <a:avLst>
              <a:gd name="adj" fmla="val 1818"/>
            </a:avLst>
          </a:prstGeom>
          <a:solidFill>
            <a:srgbClr val="F0FAF4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537960" y="19202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SORTEAMOS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377440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653796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32320" y="23317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congelaba con comandos largos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lanzábamos a mano en la terminal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3291840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65379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32320" y="32461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la API key costó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en el archivo .env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37960" y="4206240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653796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3232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económico del modelo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asumido para ganar fiabilidad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5257800"/>
            <a:ext cx="5376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modelo de pago (Claude Haiku 4.5 / Sonnet 4.6) + validación manual.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512064"/>
            <a:ext cx="1109441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GLOBAL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hallazgos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41428"/>
          </a:solidFill>
          <a:ln w="25400">
            <a:solidFill>
              <a:srgbClr val="DC35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2606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C3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46704" y="192024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41428"/>
          </a:solidFill>
          <a:ln w="25400">
            <a:solidFill>
              <a:srgbClr val="FD7E1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346704" y="2103120"/>
            <a:ext cx="2606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D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346704" y="33832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44768" y="192024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41428"/>
          </a:solidFill>
          <a:ln w="25400">
            <a:solidFill>
              <a:srgbClr val="E0A1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144768" y="2103120"/>
            <a:ext cx="2606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6144768" y="33832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42832" y="192024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41428"/>
          </a:solidFill>
          <a:ln w="25400">
            <a:solidFill>
              <a:srgbClr val="0DA9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8942832" y="2103120"/>
            <a:ext cx="2606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D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8942832" y="33832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475488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hallazgos de seguridad</a:t>
            </a: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  </a:t>
            </a:r>
            <a:r>
              <a:rPr lang="en-US" sz="16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controles verificados OK</a:t>
            </a:r>
            <a:r>
              <a:rPr lang="en-US" sz="1600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9 comprobaciones en total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continuación: los 4 hallazgos más relevantes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C35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5486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CWE-693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H-01 · Ausencia total de cabeceras de seguridad HTTP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no implementa ninguna de las cabeceras de seguridad recomendadas por OWASP. La superficie de ataque queda abierta sin ninguna mitigación en el navegador.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11094415" cy="2331720"/>
          </a:xfrm>
          <a:prstGeom prst="roundRect">
            <a:avLst>
              <a:gd name="adj" fmla="val 2353"/>
            </a:avLst>
          </a:prstGeom>
          <a:solidFill>
            <a:srgbClr val="0B102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13232" y="3008376"/>
            <a:ext cx="10765231" cy="2075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E6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-sk https://bicipop.duckdns.org -I | grep -iE \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E6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"x-frame|csp|hsts|x-content|x-xss"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(sin salida) — CONFIRMADO: ninguna cabecera presente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Faltan: X-Frame-Options, CSP, HSTS, X-Content-Type-Options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527048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DC35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48640" y="5669280"/>
            <a:ext cx="1527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Clickjacking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58568" y="5669280"/>
            <a:ext cx="621792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DC35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2258568" y="5669280"/>
            <a:ext cx="6217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63240" y="5669280"/>
            <a:ext cx="2331720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DC35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063240" y="56692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Downgrade TLS / MITM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C35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5486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CWE-290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H-02 · Dominio vulnerable a Email Spoofing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dominio no tiene registro SPF y el DMARC existe pero está vacío. Cualquiera puede enviar correos suplantando @bicipop.duckdns.org sin ninguna restricción técnica.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11094415" cy="2331720"/>
          </a:xfrm>
          <a:prstGeom prst="roundRect">
            <a:avLst>
              <a:gd name="adj" fmla="val 2353"/>
            </a:avLst>
          </a:prstGeom>
          <a:solidFill>
            <a:srgbClr val="0B102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13232" y="3008376"/>
            <a:ext cx="10765231" cy="2075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E6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dig TXT bicipop.duckdns.org | grep spf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sin salida  -&gt;  SPF ausente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E6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dig TXT _dmarc.bicipop.duckdns.org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7DE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_dmarc.bicipop.duckdns.org.  5  IN  TXT  ""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DMARC vacío  -&gt;  sin política de protección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124712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DC35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48640" y="5669280"/>
            <a:ext cx="1124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56232" y="5669280"/>
            <a:ext cx="1527048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DC35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1856232" y="5669280"/>
            <a:ext cx="1527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Suplantación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66160" y="5669280"/>
            <a:ext cx="2029968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DC35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566160" y="5669280"/>
            <a:ext cx="20299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social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FD7E1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5486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CWE-200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H-03 · Credenciales de Sentry expuestas en HTML público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credenciales de configuración de Sentry (monitoreo de errores) se exponen en texto plano en las meta tags de cada página, accesibles para cualquier visitante.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11094415" cy="2331720"/>
          </a:xfrm>
          <a:prstGeom prst="roundRect">
            <a:avLst>
              <a:gd name="adj" fmla="val 2353"/>
            </a:avLst>
          </a:prstGeom>
          <a:solidFill>
            <a:srgbClr val="0B102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13232" y="3008376"/>
            <a:ext cx="10765231" cy="2075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E6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-sk https://bicipop.duckdns.org/ | grep sentry-public_key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7DE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sentry-public_key=df3081142f1b087d672e527c0dec2b7c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7DE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sentry-org_id=4510834727321600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Clave pública + Org ID visibles en el HTML del cliente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2331720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FD7E1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48640" y="56692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Fuga de arquitectura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63240" y="5669280"/>
            <a:ext cx="1728216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FD7E1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063240" y="5669280"/>
            <a:ext cx="17282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falsos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FD7E1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5486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CWE-200 · detectado por Red 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H-04 · Exposición de datos de usuario e IDs internos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endpoint /search expone en su payload RSC el ID interno de usuario, el username y la ubicación, sin autenticación. Permitió enumerar 4 usuarios reales y habilita ataques IDOR.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11094415" cy="2331720"/>
          </a:xfrm>
          <a:prstGeom prst="roundRect">
            <a:avLst>
              <a:gd name="adj" fmla="val 2353"/>
            </a:avLst>
          </a:prstGeom>
          <a:solidFill>
            <a:srgbClr val="0B102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13232" y="3008376"/>
            <a:ext cx="10765231" cy="2075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7DE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"userId": "cmpmrudon000gotwffpkzsq4y",   // ID interno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7DE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"username": "Antonia",  "location": "Cadiz" }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Usuarios enumerados sin autenticación: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E6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Antonia · David · Paco · Pilar  (+ userId CUID2)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2633472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FD7E1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48640" y="5669280"/>
            <a:ext cx="2633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Enumeración de usuarios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64992" y="5669280"/>
            <a:ext cx="1426464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FD7E1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364992" y="5669280"/>
            <a:ext cx="1426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Fuga de PII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74336" y="5669280"/>
            <a:ext cx="1627632" cy="384048"/>
          </a:xfrm>
          <a:prstGeom prst="roundRect">
            <a:avLst>
              <a:gd name="adj" fmla="val 23810"/>
            </a:avLst>
          </a:prstGeom>
          <a:solidFill>
            <a:srgbClr val="F3F6FC"/>
          </a:solidFill>
          <a:ln w="12700">
            <a:solidFill>
              <a:srgbClr val="FD7E1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974336" y="566928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 IDOR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username es esperable en un marketplace; el problema real es el ID interno, que no debe salir al cliente.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COMPLETANDO EL CUADRO — Y EL RIGOR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hallazgos y verificación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ADICIONALES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H-05 · robots=noindex inconsistente con producción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703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H-06 · Infraestructura Supabase expuesta (Project ID)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25196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0DA9C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822960" y="425196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663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H-07 · IDOR: productos accesibles sin login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737360"/>
            <a:ext cx="5376672" cy="4023360"/>
          </a:xfrm>
          <a:prstGeom prst="roundRect">
            <a:avLst>
              <a:gd name="adj" fmla="val 1818"/>
            </a:avLst>
          </a:prstGeom>
          <a:solidFill>
            <a:srgbClr val="F0FAF4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537960" y="19202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DESCARTADOS (FALSOS POSITIVOS)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377440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653796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32320" y="23317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SSTI {{7*7}}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reflejado como texto, no evaluado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3291840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65379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32320" y="32461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tipo en parámetros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37960" y="4206240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653796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3232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reflejado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reflejado en JSON, no en el DOM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5257800"/>
            <a:ext cx="5376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lo que NO es vulnerable también es parte de un buen informe.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512064"/>
            <a:ext cx="1109441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directo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D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Cabeceras de seguridad ausentes (H-01)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1094415" cy="1417320"/>
          </a:xfrm>
          <a:prstGeom prst="roundRect">
            <a:avLst>
              <a:gd name="adj" fmla="val 3871"/>
            </a:avLst>
          </a:prstGeom>
          <a:solidFill>
            <a:srgbClr val="0B102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13232" y="2185416"/>
            <a:ext cx="10765231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E6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-sI https://bicipop.duckdns.org | grep -iE "x-frame|content-security"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resultado esperado: SIN salida  -&gt;  ninguna cabecera de protección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D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usuario expuestos en /search (H-06)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069080"/>
            <a:ext cx="11094415" cy="1554480"/>
          </a:xfrm>
          <a:prstGeom prst="roundRect">
            <a:avLst>
              <a:gd name="adj" fmla="val 3529"/>
            </a:avLst>
          </a:prstGeom>
          <a:solidFill>
            <a:srgbClr val="0B102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13232" y="4197096"/>
            <a:ext cx="10765231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E6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-s "https://bicipop.duckdns.org/search?q=bici" | grep -o \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E6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'userId[^,]*'</a:t>
            </a:r>
            <a:endParaRPr lang="en-US" sz="11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muestra los IDs internos de usuario  -&gt;  enumeración sin login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B: capturas de pantalla preparadas por si falla la conexión.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COSTE, ALTO IMPACTO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prioritarias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841248"/>
          </a:xfrm>
          <a:prstGeom prst="roundRect">
            <a:avLst>
              <a:gd name="adj" fmla="val 869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777240" y="20391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DC35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2039112"/>
            <a:ext cx="1051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011680" y="1911096"/>
            <a:ext cx="9784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cabeceras de seguridad en nginx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011680" y="224028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X-Frame-Options, CSP, HSTS, X-Content-Type-Options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11094415" cy="841248"/>
          </a:xfrm>
          <a:prstGeom prst="roundRect">
            <a:avLst>
              <a:gd name="adj" fmla="val 869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777240" y="302666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DC35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77240" y="3026664"/>
            <a:ext cx="1051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11680" y="2898648"/>
            <a:ext cx="9784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SPF y DMARC con política de rechazo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011680" y="3227832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la suplantación de correo del dominio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758184"/>
            <a:ext cx="11094415" cy="841248"/>
          </a:xfrm>
          <a:prstGeom prst="roundRect">
            <a:avLst>
              <a:gd name="adj" fmla="val 869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777240" y="401421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D7E1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777240" y="4014216"/>
            <a:ext cx="1051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11680" y="3886200"/>
            <a:ext cx="9784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exponer userId interno ni credenciales Sentry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2011680" y="4215384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server-side; IDs públicos no correlacionables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45736"/>
            <a:ext cx="11094415" cy="841248"/>
          </a:xfrm>
          <a:prstGeom prst="roundRect">
            <a:avLst>
              <a:gd name="adj" fmla="val 8696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777240" y="50017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777240" y="5001768"/>
            <a:ext cx="1051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011680" y="4873752"/>
            <a:ext cx="9784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RLS en Supabase y revisar el bucket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2011680" y="5202936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 en todas las tablas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754880" cy="4754880"/>
          </a:xfrm>
          <a:prstGeom prst="ellipse">
            <a:avLst/>
          </a:prstGeom>
          <a:solidFill>
            <a:srgbClr val="203A7A">
              <a:alpha val="4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aprendizaje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21031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razonable   </a:t>
            </a:r>
            <a:r>
              <a:rPr lang="en-US" sz="1350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archivos sensibles y no expone endpoints admin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457200" cy="45720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48640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94436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antes de producción   </a:t>
            </a:r>
            <a:r>
              <a:rPr lang="en-US" sz="1350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Cabeceras, email y exposición de datos son prioritarios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831336"/>
            <a:ext cx="457200" cy="457200"/>
          </a:xfrm>
          <a:prstGeom prst="ellipse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48640" y="3831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85616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dónde parar   </a:t>
            </a:r>
            <a:r>
              <a:rPr lang="en-US" sz="1350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la vulnerabilidad, no explotarla — criterio ético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4415" cy="0"/>
          </a:xfrm>
          <a:prstGeom prst="line">
            <a:avLst/>
          </a:prstGeom>
          <a:noFill/>
          <a:ln w="19050">
            <a:solidFill>
              <a:srgbClr val="203A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Mario · Auditoría de Seguridad Web BiciPop · KeepCoding XIX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804672" y="457200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69494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reflexión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777240" cy="777240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78308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783080" y="22631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nos ha aportado?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6446520" y="2057400"/>
            <a:ext cx="777240" cy="777240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40664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06640" y="232257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hemos aprendido?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822960" y="3657600"/>
            <a:ext cx="777240" cy="777240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822960" y="3657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783080" y="35570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83080" y="38633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 repetiríamos?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7220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6446520" y="3657600"/>
            <a:ext cx="777240" cy="777240"/>
          </a:xfrm>
          <a:prstGeom prst="ellipse">
            <a:avLst/>
          </a:prstGeom>
          <a:solidFill>
            <a:srgbClr val="0F1B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6446520" y="3657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406640" y="35570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4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06640" y="3890945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seguiríamos haciendo?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548640" y="502920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del equipo: </a:t>
            </a:r>
            <a:r>
              <a:rPr lang="en-US" sz="135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positivo</a:t>
            </a: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repetiríamos la experiencia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5120640" cy="5120640"/>
          </a:xfrm>
          <a:prstGeom prst="ellipse">
            <a:avLst/>
          </a:prstGeom>
          <a:solidFill>
            <a:srgbClr val="203A7A">
              <a:alpha val="45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9875520" y="3566160"/>
            <a:ext cx="3840480" cy="3840480"/>
          </a:xfrm>
          <a:prstGeom prst="ellipse">
            <a:avLst/>
          </a:prstGeom>
          <a:solidFill>
            <a:srgbClr val="17A2B8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KEEPCODING XIX BOOTCAMP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Seguridad Web · BiciPop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480560"/>
            <a:ext cx="173736" cy="173736"/>
          </a:xfrm>
          <a:prstGeom prst="ellipse">
            <a:avLst/>
          </a:prstGeom>
          <a:solidFill>
            <a:srgbClr val="DC354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859536" y="4480560"/>
            <a:ext cx="173736" cy="173736"/>
          </a:xfrm>
          <a:prstGeom prst="ellipse">
            <a:avLst/>
          </a:prstGeom>
          <a:solidFill>
            <a:srgbClr val="FD7E1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1170432" y="4480560"/>
            <a:ext cx="173736" cy="173736"/>
          </a:xfrm>
          <a:prstGeom prst="ellipse">
            <a:avLst/>
          </a:prstGeom>
          <a:solidFill>
            <a:srgbClr val="E0A1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1481328" y="4480560"/>
            <a:ext cx="173736" cy="173736"/>
          </a:xfrm>
          <a:prstGeom prst="ellipse">
            <a:avLst/>
          </a:prstGeom>
          <a:solidFill>
            <a:srgbClr val="0DA9C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Mario González Urbano  ·  Gustavo Álvarez Sánchez</a:t>
            </a:r>
            <a:r>
              <a:rPr lang="en-US" sz="1400" dirty="0">
                <a:solidFill>
                  <a:srgbClr val="C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 bicipop.duckdns.org   ·   Julio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1536</Words>
  <Application>Microsoft Office PowerPoint</Application>
  <PresentationFormat>Panorámica</PresentationFormat>
  <Paragraphs>304</Paragraphs>
  <Slides>20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KeepCoding XIX Bootcamp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Auditoría de Seguridad Web — BiciPop</dc:title>
  <dc:subject>PptxGenJS Presentation</dc:subject>
  <dc:creator>Luis Mario</dc:creator>
  <cp:lastModifiedBy>Gustavo Álvarez Sánchez</cp:lastModifiedBy>
  <cp:revision>2</cp:revision>
  <dcterms:created xsi:type="dcterms:W3CDTF">2026-07-02T19:08:11Z</dcterms:created>
  <dcterms:modified xsi:type="dcterms:W3CDTF">2026-07-03T13:58:51Z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196fbf9-cea9-4b6c-82a2-d099f9d9b302_Enabled">
    <vt:lpwstr>true</vt:lpwstr>
  </property>
  <property fmtid="{D5CDD505-2E9C-101B-9397-08002B2CF9AE}" pid="3" name="MSIP_Label_2196fbf9-cea9-4b6c-82a2-d099f9d9b302_SetDate">
    <vt:lpwstr>2026-07-03T13:58:51Z</vt:lpwstr>
  </property>
  <property fmtid="{D5CDD505-2E9C-101B-9397-08002B2CF9AE}" pid="4" name="MSIP_Label_2196fbf9-cea9-4b6c-82a2-d099f9d9b302_Method">
    <vt:lpwstr>Standard</vt:lpwstr>
  </property>
  <property fmtid="{D5CDD505-2E9C-101B-9397-08002B2CF9AE}" pid="5" name="MSIP_Label_2196fbf9-cea9-4b6c-82a2-d099f9d9b302_Name">
    <vt:lpwstr>Confidencial</vt:lpwstr>
  </property>
  <property fmtid="{D5CDD505-2E9C-101B-9397-08002B2CF9AE}" pid="6" name="MSIP_Label_2196fbf9-cea9-4b6c-82a2-d099f9d9b302_SiteId">
    <vt:lpwstr>a9f40cb0-25cc-4f05-9d27-bbae3b212455</vt:lpwstr>
  </property>
  <property fmtid="{D5CDD505-2E9C-101B-9397-08002B2CF9AE}" pid="7" name="MSIP_Label_2196fbf9-cea9-4b6c-82a2-d099f9d9b302_ActionId">
    <vt:lpwstr>85d61441-c7cb-43c7-b943-e6d0b4244628</vt:lpwstr>
  </property>
  <property fmtid="{D5CDD505-2E9C-101B-9397-08002B2CF9AE}" pid="8" name="MSIP_Label_2196fbf9-cea9-4b6c-82a2-d099f9d9b302_ContentBits">
    <vt:lpwstr>0</vt:lpwstr>
  </property>
  <property fmtid="{D5CDD505-2E9C-101B-9397-08002B2CF9AE}" pid="9" name="MSIP_Label_2196fbf9-cea9-4b6c-82a2-d099f9d9b302_Tag">
    <vt:lpwstr>10, 3, 0, 1</vt:lpwstr>
  </property>
</Properties>
</file>